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7" r:id="rId2"/>
    <p:sldId id="258" r:id="rId3"/>
    <p:sldId id="259" r:id="rId4"/>
    <p:sldId id="274" r:id="rId5"/>
    <p:sldId id="261" r:id="rId6"/>
    <p:sldId id="262" r:id="rId7"/>
    <p:sldId id="263" r:id="rId8"/>
    <p:sldId id="260" r:id="rId9"/>
    <p:sldId id="264" r:id="rId10"/>
    <p:sldId id="265" r:id="rId11"/>
    <p:sldId id="266" r:id="rId12"/>
    <p:sldId id="275" r:id="rId13"/>
    <p:sldId id="267" r:id="rId14"/>
    <p:sldId id="268" r:id="rId15"/>
    <p:sldId id="269" r:id="rId16"/>
    <p:sldId id="276" r:id="rId17"/>
    <p:sldId id="270" r:id="rId18"/>
    <p:sldId id="271" r:id="rId19"/>
    <p:sldId id="273" r:id="rId20"/>
    <p:sldId id="27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9BBA44-73A0-47C3-9BA3-8EA9663E3B45}" v="1" dt="2026-07-24T02:52:51.2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0" d="100"/>
          <a:sy n="90" d="100"/>
        </p:scale>
        <p:origin x="3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linivuyyala@outlook.com" userId="45c2176c654f305e" providerId="LiveId" clId="{42A66572-C29C-45F9-A41C-AE5D7BD38350}"/>
    <pc:docChg chg="custSel modSld">
      <pc:chgData name="shalinivuyyala@outlook.com" userId="45c2176c654f305e" providerId="LiveId" clId="{42A66572-C29C-45F9-A41C-AE5D7BD38350}" dt="2026-07-24T03:00:09.186" v="712" actId="20577"/>
      <pc:docMkLst>
        <pc:docMk/>
      </pc:docMkLst>
      <pc:sldChg chg="modSp mod">
        <pc:chgData name="shalinivuyyala@outlook.com" userId="45c2176c654f305e" providerId="LiveId" clId="{42A66572-C29C-45F9-A41C-AE5D7BD38350}" dt="2026-07-24T02:53:51.334" v="122" actId="2710"/>
        <pc:sldMkLst>
          <pc:docMk/>
          <pc:sldMk cId="4149451402" sldId="258"/>
        </pc:sldMkLst>
        <pc:spChg chg="mod">
          <ac:chgData name="shalinivuyyala@outlook.com" userId="45c2176c654f305e" providerId="LiveId" clId="{42A66572-C29C-45F9-A41C-AE5D7BD38350}" dt="2026-07-24T02:53:51.334" v="122" actId="2710"/>
          <ac:spMkLst>
            <pc:docMk/>
            <pc:sldMk cId="4149451402" sldId="258"/>
            <ac:spMk id="2" creationId="{26F24868-BB78-4BF6-A862-5665651DD373}"/>
          </ac:spMkLst>
        </pc:spChg>
      </pc:sldChg>
      <pc:sldChg chg="modSp mod">
        <pc:chgData name="shalinivuyyala@outlook.com" userId="45c2176c654f305e" providerId="LiveId" clId="{42A66572-C29C-45F9-A41C-AE5D7BD38350}" dt="2026-07-24T02:55:41.480" v="240" actId="113"/>
        <pc:sldMkLst>
          <pc:docMk/>
          <pc:sldMk cId="402455424" sldId="261"/>
        </pc:sldMkLst>
        <pc:spChg chg="mod">
          <ac:chgData name="shalinivuyyala@outlook.com" userId="45c2176c654f305e" providerId="LiveId" clId="{42A66572-C29C-45F9-A41C-AE5D7BD38350}" dt="2026-07-24T02:55:41.480" v="240" actId="113"/>
          <ac:spMkLst>
            <pc:docMk/>
            <pc:sldMk cId="402455424" sldId="261"/>
            <ac:spMk id="2" creationId="{C47CB8BF-6E79-C1DF-61F3-8A0EE6A64A32}"/>
          </ac:spMkLst>
        </pc:spChg>
      </pc:sldChg>
      <pc:sldChg chg="modSp mod">
        <pc:chgData name="shalinivuyyala@outlook.com" userId="45c2176c654f305e" providerId="LiveId" clId="{42A66572-C29C-45F9-A41C-AE5D7BD38350}" dt="2026-07-24T02:57:09.066" v="355" actId="113"/>
        <pc:sldMkLst>
          <pc:docMk/>
          <pc:sldMk cId="2623896813" sldId="264"/>
        </pc:sldMkLst>
        <pc:spChg chg="mod">
          <ac:chgData name="shalinivuyyala@outlook.com" userId="45c2176c654f305e" providerId="LiveId" clId="{42A66572-C29C-45F9-A41C-AE5D7BD38350}" dt="2026-07-24T02:57:09.066" v="355" actId="113"/>
          <ac:spMkLst>
            <pc:docMk/>
            <pc:sldMk cId="2623896813" sldId="264"/>
            <ac:spMk id="2" creationId="{2B60BA37-6176-4027-87CA-688124F30C77}"/>
          </ac:spMkLst>
        </pc:spChg>
      </pc:sldChg>
      <pc:sldChg chg="modSp mod">
        <pc:chgData name="shalinivuyyala@outlook.com" userId="45c2176c654f305e" providerId="LiveId" clId="{42A66572-C29C-45F9-A41C-AE5D7BD38350}" dt="2026-07-24T02:58:53.197" v="508" actId="113"/>
        <pc:sldMkLst>
          <pc:docMk/>
          <pc:sldMk cId="632387039" sldId="267"/>
        </pc:sldMkLst>
        <pc:spChg chg="mod">
          <ac:chgData name="shalinivuyyala@outlook.com" userId="45c2176c654f305e" providerId="LiveId" clId="{42A66572-C29C-45F9-A41C-AE5D7BD38350}" dt="2026-07-24T02:58:53.197" v="508" actId="113"/>
          <ac:spMkLst>
            <pc:docMk/>
            <pc:sldMk cId="632387039" sldId="267"/>
            <ac:spMk id="2" creationId="{9E8BD481-4558-8097-1124-69305B1F6AB5}"/>
          </ac:spMkLst>
        </pc:spChg>
      </pc:sldChg>
      <pc:sldChg chg="modSp mod">
        <pc:chgData name="shalinivuyyala@outlook.com" userId="45c2176c654f305e" providerId="LiveId" clId="{42A66572-C29C-45F9-A41C-AE5D7BD38350}" dt="2026-07-24T03:00:09.186" v="712" actId="20577"/>
        <pc:sldMkLst>
          <pc:docMk/>
          <pc:sldMk cId="1287112801" sldId="270"/>
        </pc:sldMkLst>
        <pc:spChg chg="mod">
          <ac:chgData name="shalinivuyyala@outlook.com" userId="45c2176c654f305e" providerId="LiveId" clId="{42A66572-C29C-45F9-A41C-AE5D7BD38350}" dt="2026-07-24T03:00:09.186" v="712" actId="20577"/>
          <ac:spMkLst>
            <pc:docMk/>
            <pc:sldMk cId="1287112801" sldId="270"/>
            <ac:spMk id="2" creationId="{653DE23E-FABD-FB53-798D-DE6924693BC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dirty="0"/>
              <a:pPr/>
              <a:t>7/24/2026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7/24/2026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7/24/2026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D4D7B-0611-39E3-CF21-6B18EBB2C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1747" y="2512142"/>
            <a:ext cx="9603275" cy="1420761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Case based scenarios by identifying entities and relationships</a:t>
            </a:r>
            <a:br>
              <a:rPr lang="en-IN" b="1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b="1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presentation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4281F-F416-0E26-F6F9-2070C8E67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52155" y="4345858"/>
            <a:ext cx="2835086" cy="16022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Presnted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by :</a:t>
            </a:r>
          </a:p>
          <a:p>
            <a:pPr marL="0" indent="0">
              <a:buNone/>
            </a:pP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V.Shalini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405943D6-50FF-5E28-5B15-19D1A11667AB}"/>
              </a:ext>
            </a:extLst>
          </p:cNvPr>
          <p:cNvSpPr/>
          <p:nvPr/>
        </p:nvSpPr>
        <p:spPr>
          <a:xfrm>
            <a:off x="1441747" y="155812"/>
            <a:ext cx="9603275" cy="1741814"/>
          </a:xfrm>
          <a:custGeom>
            <a:avLst/>
            <a:gdLst/>
            <a:ahLst/>
            <a:cxnLst/>
            <a:rect l="l" t="t" r="r" b="b"/>
            <a:pathLst>
              <a:path w="18288000" h="2153961">
                <a:moveTo>
                  <a:pt x="0" y="0"/>
                </a:moveTo>
                <a:lnTo>
                  <a:pt x="18288000" y="0"/>
                </a:lnTo>
                <a:lnTo>
                  <a:pt x="18288000" y="2153961"/>
                </a:lnTo>
                <a:lnTo>
                  <a:pt x="0" y="215396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240" b="-3012"/>
            </a:stretch>
          </a:blipFill>
        </p:spPr>
      </p:sp>
    </p:spTree>
    <p:extLst>
      <p:ext uri="{BB962C8B-B14F-4D97-AF65-F5344CB8AC3E}">
        <p14:creationId xmlns:p14="http://schemas.microsoft.com/office/powerpoint/2010/main" val="2803317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24868-BB78-4BF6-A862-5665651DD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194733"/>
            <a:ext cx="9603275" cy="165902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Create and present an er diagram for an online library system, explaining each component clearly</a:t>
            </a:r>
            <a:endParaRPr lang="en-IN" sz="24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747D6-27A3-E600-B5F3-B3D2D13B6A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487680"/>
            <a:ext cx="9603275" cy="3450613"/>
          </a:xfrm>
        </p:spPr>
        <p:txBody>
          <a:bodyPr/>
          <a:lstStyle/>
          <a:p>
            <a:pPr marL="0" indent="0">
              <a:buNone/>
            </a:pPr>
            <a:r>
              <a:rPr lang="en-IN" sz="24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Online Library System :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Stores book information.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Keeps member records.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Records book issue and return.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Managed by librarians.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an ER diagram for database design.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94514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DAAED-B16F-1F8B-39BB-3E20AF225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9577" y="1283228"/>
            <a:ext cx="6154993" cy="1209368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303030"/>
                </a:solidFill>
                <a:latin typeface="Times New Roman MT Condensed Bold"/>
                <a:ea typeface="Times New Roman MT Condensed Bold"/>
                <a:cs typeface="Times New Roman MT Condensed Bold"/>
                <a:sym typeface="Times New Roman MT Condensed Bold"/>
              </a:rPr>
              <a:t>ER DIAGRAM COMPONENTS</a:t>
            </a:r>
            <a:br>
              <a:rPr lang="en-US" b="1" dirty="0">
                <a:solidFill>
                  <a:srgbClr val="303030"/>
                </a:solidFill>
                <a:latin typeface="Times New Roman MT Condensed Bold"/>
                <a:ea typeface="Times New Roman MT Condensed Bold"/>
                <a:cs typeface="Times New Roman MT Condensed Bold"/>
                <a:sym typeface="Times New Roman MT Condensed Bold"/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36FFE-81A3-12AE-8DE1-176419F2E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87912"/>
            <a:ext cx="9603275" cy="4035904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8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Entities                                                                         </a:t>
            </a:r>
            <a:r>
              <a:rPr lang="en-IN" sz="80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Primary Key</a:t>
            </a:r>
            <a:endParaRPr lang="en-IN" sz="80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                                                                          </a:t>
            </a:r>
            <a:r>
              <a:rPr lang="en-IN" sz="8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Book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ID</a:t>
            </a:r>
          </a:p>
          <a:p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Member                                                                     </a:t>
            </a:r>
            <a:r>
              <a:rPr lang="en-IN" sz="8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Member</a:t>
            </a:r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ID</a:t>
            </a:r>
          </a:p>
          <a:p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Librarian </a:t>
            </a:r>
          </a:p>
          <a:p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Borrow Record </a:t>
            </a:r>
          </a:p>
          <a:p>
            <a:pPr marL="0" indent="0">
              <a:buNone/>
            </a:pPr>
            <a:r>
              <a:rPr lang="en-IN" sz="8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Attributes </a:t>
            </a:r>
            <a:r>
              <a:rPr lang="en-IN" sz="72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</a:t>
            </a:r>
            <a:r>
              <a:rPr lang="en-IN" sz="8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Relationships</a:t>
            </a:r>
          </a:p>
          <a:p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 ID                                                                     Member borrows Book</a:t>
            </a:r>
          </a:p>
          <a:p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Member ID                                                                Librarian manages Books</a:t>
            </a:r>
          </a:p>
          <a:p>
            <a:r>
              <a:rPr lang="en-IN" sz="8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 Title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0539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0021A-0A1E-BDA1-4C14-DFCEBBCA3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2761" y="1414119"/>
            <a:ext cx="8734441" cy="1049235"/>
          </a:xfrm>
        </p:spPr>
        <p:txBody>
          <a:bodyPr/>
          <a:lstStyle/>
          <a:p>
            <a:r>
              <a:rPr lang="en-US" b="1" dirty="0">
                <a:solidFill>
                  <a:srgbClr val="303030"/>
                </a:solidFill>
                <a:latin typeface="Times New Roman MT Condensed Bold"/>
                <a:ea typeface="Times New Roman MT Condensed Bold"/>
                <a:cs typeface="Times New Roman MT Condensed Bold"/>
                <a:sym typeface="Times New Roman MT Condensed Bold"/>
              </a:rPr>
              <a:t>EER DIAGRAM</a:t>
            </a:r>
            <a:br>
              <a:rPr lang="en-US" b="1" dirty="0">
                <a:solidFill>
                  <a:srgbClr val="303030"/>
                </a:solidFill>
                <a:latin typeface="Times New Roman MT Condensed Bold"/>
                <a:ea typeface="Times New Roman MT Condensed Bold"/>
                <a:cs typeface="Times New Roman MT Condensed Bold"/>
                <a:sym typeface="Times New Roman MT Condensed Bold"/>
              </a:rPr>
            </a:b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85C9DBF-5608-A5EC-3DEB-2295CFB002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2761" y="2252100"/>
            <a:ext cx="7826477" cy="344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982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CB8BF-6E79-C1DF-61F3-8A0EE6A64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2.Prepare a presentation on the </a:t>
            </a:r>
            <a:r>
              <a:rPr lang="en-I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eer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model, demonstrating generalization and specialization with a university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B2680-365C-773C-FEE0-C539AE2A99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Enhanced ER (EER) Model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version of ER model.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Represents detailed data.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inheritance.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Organizes related entities.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database design</a:t>
            </a:r>
            <a:r>
              <a:rPr lang="en-IN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455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6A83C-4877-A9A5-CD1F-4D6B501DE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6482" y="1329136"/>
            <a:ext cx="9603275" cy="1049235"/>
          </a:xfrm>
        </p:spPr>
        <p:txBody>
          <a:bodyPr/>
          <a:lstStyle/>
          <a:p>
            <a:r>
              <a:rPr lang="en-US" b="1" dirty="0">
                <a:solidFill>
                  <a:srgbClr val="303030"/>
                </a:solidFill>
                <a:latin typeface="Times New Roman MT Condensed Bold"/>
                <a:ea typeface="Times New Roman MT Condensed Bold"/>
                <a:cs typeface="Times New Roman MT Condensed Bold"/>
                <a:sym typeface="Times New Roman MT Condensed Bold"/>
              </a:rPr>
              <a:t>UNIVERSITY CASE STUDY</a:t>
            </a:r>
            <a:br>
              <a:rPr lang="en-US" b="1" dirty="0">
                <a:solidFill>
                  <a:srgbClr val="303030"/>
                </a:solidFill>
                <a:latin typeface="Times New Roman MT Condensed Bold"/>
                <a:ea typeface="Times New Roman MT Condensed Bold"/>
                <a:cs typeface="Times New Roman MT Condensed Bold"/>
                <a:sym typeface="Times New Roman MT Condensed Bold"/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B7AB3-B901-2B6F-BB5A-1EB347C01A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1074" y="1853753"/>
            <a:ext cx="9603275" cy="4758694"/>
          </a:xfrm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IN" sz="5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Superclass                                                                       </a:t>
            </a:r>
            <a:r>
              <a:rPr lang="en-IN" sz="54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Special Details</a:t>
            </a:r>
            <a:endParaRPr lang="en-IN" sz="50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Person                                                                             </a:t>
            </a:r>
            <a:r>
              <a:rPr lang="en-IN" sz="5400" dirty="0"/>
              <a:t>Student → Course</a:t>
            </a:r>
            <a:endParaRPr lang="en-IN" sz="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IN" sz="5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Subclasses                                                                         </a:t>
            </a:r>
            <a:r>
              <a:rPr lang="en-IN" sz="5400" dirty="0"/>
              <a:t>Teacher → Subject</a:t>
            </a:r>
            <a:endParaRPr lang="en-IN" sz="5000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                                                                           </a:t>
            </a:r>
            <a:r>
              <a:rPr lang="en-IN" sz="5400" dirty="0"/>
              <a:t>Staff → Job Role</a:t>
            </a:r>
            <a:endParaRPr lang="en-IN" sz="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Teacher </a:t>
            </a:r>
          </a:p>
          <a:p>
            <a:r>
              <a:rPr lang="en-IN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Staff </a:t>
            </a:r>
          </a:p>
          <a:p>
            <a:pPr marL="0" indent="0">
              <a:buNone/>
            </a:pPr>
            <a:r>
              <a:rPr lang="en-IN" sz="5000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Common Details</a:t>
            </a:r>
          </a:p>
          <a:p>
            <a:r>
              <a:rPr lang="en-IN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Person ID </a:t>
            </a:r>
          </a:p>
          <a:p>
            <a:r>
              <a:rPr lang="en-IN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 </a:t>
            </a:r>
          </a:p>
          <a:p>
            <a:r>
              <a:rPr lang="en-IN" sz="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Phone Number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4305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EB712-E42A-E502-DFB9-EDA17F4DE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8224" y="1391655"/>
            <a:ext cx="9603275" cy="1049235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GENERALIZATION AND SPECIALIZATION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7455B7-987D-563E-453C-04AB1968D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10091492" cy="424741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Specialization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Divides one entity into smaller groups.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Person → Student, Teacher, Staff.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group has unique details.</a:t>
            </a:r>
          </a:p>
          <a:p>
            <a:pPr marL="0" indent="0">
              <a:buNone/>
            </a:pPr>
            <a:r>
              <a:rPr lang="en-IN" b="1" dirty="0"/>
              <a:t>Generalization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Combines similar entities.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Creates one common superclass.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repeated data.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Makes the database simple.</a:t>
            </a:r>
          </a:p>
          <a:p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5742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D84A7-584A-D449-9098-EFC32DBFE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2728" y="1234921"/>
            <a:ext cx="9603275" cy="1049235"/>
          </a:xfrm>
        </p:spPr>
        <p:txBody>
          <a:bodyPr>
            <a:normAutofit fontScale="90000"/>
          </a:bodyPr>
          <a:lstStyle/>
          <a:p>
            <a:r>
              <a:rPr lang="en-US" sz="4400" b="1" dirty="0">
                <a:solidFill>
                  <a:srgbClr val="303030"/>
                </a:solidFill>
                <a:latin typeface="Times New Roman MT Condensed Bold"/>
                <a:ea typeface="Times New Roman MT Condensed Bold"/>
                <a:cs typeface="Times New Roman MT Condensed Bold"/>
                <a:sym typeface="Times New Roman MT Condensed Bold"/>
              </a:rPr>
              <a:t>ER DIAGRAM</a:t>
            </a:r>
            <a:br>
              <a:rPr lang="en-US" sz="9600" b="1" dirty="0">
                <a:solidFill>
                  <a:srgbClr val="303030"/>
                </a:solidFill>
                <a:latin typeface="Times New Roman MT Condensed Bold"/>
                <a:ea typeface="Times New Roman MT Condensed Bold"/>
                <a:cs typeface="Times New Roman MT Condensed Bold"/>
                <a:sym typeface="Times New Roman MT Condensed Bold"/>
              </a:rPr>
            </a:b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8B00C75-E7F4-53E3-9814-F51566CF95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61908" y="2173441"/>
            <a:ext cx="7575149" cy="344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244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0BA37-6176-4027-87CA-688124F30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3.Present the concept of data independence (logical and physical) and its significance in </a:t>
            </a:r>
            <a:r>
              <a:rPr lang="en-I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dbms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architecture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32DD5-D245-D909-2D63-73C8D508AB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032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can change without affecting users. 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database flexibility. 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Simplifies maintenance. 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future changes. 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application updates.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3896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98B0A-5C8A-3A64-FF69-A67E525DA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61220" y="1391655"/>
            <a:ext cx="8793634" cy="1049235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 OF DATA INDEPENDENCE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39916-5B14-6ACC-D8C7-E7D799E1DA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28800"/>
            <a:ext cx="10209479" cy="4365523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Physical Data Independence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Changes storage methods.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Changes file organization.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programs remain the same.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storage performance. </a:t>
            </a:r>
          </a:p>
          <a:p>
            <a:pPr marL="0" indent="0"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Logical Data Independence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Changes table structure.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Adds new columns.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continue working.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Makes database updates easier.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9774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400F7-E73F-7CD5-13A4-EE555ADF4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996" y="1391655"/>
            <a:ext cx="8420008" cy="1049235"/>
          </a:xfrm>
        </p:spPr>
        <p:txBody>
          <a:bodyPr/>
          <a:lstStyle/>
          <a:p>
            <a:r>
              <a:rPr lang="en-IN" dirty="0"/>
              <a:t>IMPORTANCE OF DATA INDEPENDENCE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1BAB1-7129-3C0C-6076-B2A4AD0853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844294"/>
          </a:xfrm>
        </p:spPr>
        <p:txBody>
          <a:bodyPr>
            <a:normAutofit/>
          </a:bodyPr>
          <a:lstStyle/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Saves development time. 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database maintenance. 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performance. 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system growth. </a:t>
            </a:r>
          </a:p>
          <a:p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Protects user applications.</a:t>
            </a:r>
          </a:p>
        </p:txBody>
      </p:sp>
    </p:spTree>
    <p:extLst>
      <p:ext uri="{BB962C8B-B14F-4D97-AF65-F5344CB8AC3E}">
        <p14:creationId xmlns:p14="http://schemas.microsoft.com/office/powerpoint/2010/main" val="747956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B9EE42-234E-6D3F-D24B-D8731DAFA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782" y="629265"/>
            <a:ext cx="8817916" cy="4857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690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BD481-4558-8097-1124-69305B1F6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Deliver a technical presentation on the software components of a </a:t>
            </a:r>
            <a:r>
              <a:rPr lang="en-I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dbms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explaining query processor , storage manager, and transaction manager.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DE2740-4852-17DD-4AE5-64F214E1DA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271252"/>
            <a:ext cx="9603275" cy="3195093"/>
          </a:xfrm>
        </p:spPr>
        <p:txBody>
          <a:bodyPr/>
          <a:lstStyle/>
          <a:p>
            <a:pPr marL="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DBMS manages database operations.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Works with different software components.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Stores and retrieves data.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Processes user requests.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Ensures reliable database performance.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2387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344567-4E9B-D5CB-0D7E-20652712153F}"/>
              </a:ext>
            </a:extLst>
          </p:cNvPr>
          <p:cNvSpPr txBox="1"/>
          <p:nvPr/>
        </p:nvSpPr>
        <p:spPr>
          <a:xfrm>
            <a:off x="1221658" y="691930"/>
            <a:ext cx="610091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 Processor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Reads SQL queries.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Checks query errors.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Finds the best execution method.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requested data.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A5C2CA-76BB-F839-9629-87EF1D8FC95E}"/>
              </a:ext>
            </a:extLst>
          </p:cNvPr>
          <p:cNvSpPr txBox="1"/>
          <p:nvPr/>
        </p:nvSpPr>
        <p:spPr>
          <a:xfrm>
            <a:off x="1221658" y="3071336"/>
            <a:ext cx="610091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Stores database files.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Organizes data.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Manages memory.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Retrieves stored information.</a:t>
            </a:r>
          </a:p>
        </p:txBody>
      </p:sp>
    </p:spTree>
    <p:extLst>
      <p:ext uri="{BB962C8B-B14F-4D97-AF65-F5344CB8AC3E}">
        <p14:creationId xmlns:p14="http://schemas.microsoft.com/office/powerpoint/2010/main" val="29532802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CA9AE5-0E44-F00A-F656-925CCBFB9D3C}"/>
              </a:ext>
            </a:extLst>
          </p:cNvPr>
          <p:cNvSpPr txBox="1"/>
          <p:nvPr/>
        </p:nvSpPr>
        <p:spPr>
          <a:xfrm>
            <a:off x="1818968" y="1634979"/>
            <a:ext cx="693911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Transaction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Handles multiple users.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Maintains data accuracy.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Commit.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Rollback.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Prevents data loss. </a:t>
            </a:r>
          </a:p>
        </p:txBody>
      </p:sp>
    </p:spTree>
    <p:extLst>
      <p:ext uri="{BB962C8B-B14F-4D97-AF65-F5344CB8AC3E}">
        <p14:creationId xmlns:p14="http://schemas.microsoft.com/office/powerpoint/2010/main" val="37568387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B5BB1A-AEA7-5EE8-58AE-0DC49DA20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84" y="327166"/>
            <a:ext cx="7098891" cy="5591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0209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DE23E-FABD-FB53-798D-DE6924693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5.Prepare a presentation comparing strong and weak entities in er modelling with </a:t>
            </a:r>
            <a:r>
              <a:rPr lang="en-IN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real-word examples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033CB-01D0-D01D-07ED-FE6ABB3DD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Entities represent real objects.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in database design.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be strong or weak.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organize information. 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Shows relationships between data.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71128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228E8-3DE7-6EF3-9BD7-A9EFD127A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7935" y="1296132"/>
            <a:ext cx="7416919" cy="1049235"/>
          </a:xfrm>
        </p:spPr>
        <p:txBody>
          <a:bodyPr/>
          <a:lstStyle/>
          <a:p>
            <a:r>
              <a:rPr lang="en-IN" dirty="0"/>
              <a:t>Strong 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AAD80-89BD-8176-8EC0-58C355EF10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20749"/>
            <a:ext cx="9603275" cy="437523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its own primary key.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Exists independently.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Easily identified.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a single rectangle. </a:t>
            </a:r>
          </a:p>
          <a:p>
            <a:pPr marL="0" indent="0"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58514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F2B653D-B325-9DF0-BA61-7BA96DE49B2E}"/>
              </a:ext>
            </a:extLst>
          </p:cNvPr>
          <p:cNvSpPr txBox="1"/>
          <p:nvPr/>
        </p:nvSpPr>
        <p:spPr>
          <a:xfrm>
            <a:off x="2391697" y="470534"/>
            <a:ext cx="610091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Depends on a strong entity.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a partial key.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Cannot exist alone.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a double rectangle. </a:t>
            </a:r>
          </a:p>
          <a:p>
            <a:pPr>
              <a:buNone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 Item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Library Fine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 Dependent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Attendance</a:t>
            </a:r>
          </a:p>
        </p:txBody>
      </p:sp>
    </p:spTree>
    <p:extLst>
      <p:ext uri="{BB962C8B-B14F-4D97-AF65-F5344CB8AC3E}">
        <p14:creationId xmlns:p14="http://schemas.microsoft.com/office/powerpoint/2010/main" val="12332712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05F52E-3C39-C8C3-4EF6-4E69D53D6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116" y="822872"/>
            <a:ext cx="8770374" cy="4535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904893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{3EE2BFD9-4019-495F-A945-209E09532122}TFc986dd65-aaf0-4d5c-bef9-9c391ee05f7b792878d6-f8cb856a3a7f</Template>
  <TotalTime>73</TotalTime>
  <Words>534</Words>
  <Application>Microsoft Office PowerPoint</Application>
  <PresentationFormat>Widescreen</PresentationFormat>
  <Paragraphs>125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Gill Sans MT</vt:lpstr>
      <vt:lpstr>Times New Roman</vt:lpstr>
      <vt:lpstr>Times New Roman MT Condensed Bold</vt:lpstr>
      <vt:lpstr>Gallery</vt:lpstr>
      <vt:lpstr>Case based scenarios by identifying entities and relationships  technical presentation </vt:lpstr>
      <vt:lpstr>1. Create and present an er diagram for an online library system, explaining each component clearly</vt:lpstr>
      <vt:lpstr>ER DIAGRAM COMPONENTS </vt:lpstr>
      <vt:lpstr>EER DIAGRAM </vt:lpstr>
      <vt:lpstr>2.Prepare a presentation on the eer model, demonstrating generalization and specialization with a university case</vt:lpstr>
      <vt:lpstr>UNIVERSITY CASE STUDY </vt:lpstr>
      <vt:lpstr>GENERALIZATION AND SPECIALIZATION</vt:lpstr>
      <vt:lpstr>ER DIAGRAM </vt:lpstr>
      <vt:lpstr>3.Present the concept of data independence (logical and physical) and its significance in dbms architecture </vt:lpstr>
      <vt:lpstr>TYPES OF DATA INDEPENDENCE</vt:lpstr>
      <vt:lpstr>IMPORTANCE OF DATA INDEPENDENCE</vt:lpstr>
      <vt:lpstr>PowerPoint Presentation</vt:lpstr>
      <vt:lpstr>4. Deliver a technical presentation on the software components of a dbms, explaining query processor , storage manager, and transaction manager.</vt:lpstr>
      <vt:lpstr>PowerPoint Presentation</vt:lpstr>
      <vt:lpstr>PowerPoint Presentation</vt:lpstr>
      <vt:lpstr>PowerPoint Presentation</vt:lpstr>
      <vt:lpstr>5.Prepare a presentation comparing strong and weak entities in er modelling with real-word examples</vt:lpstr>
      <vt:lpstr>Strong Entity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Cheekatipalli Chaithanyapriya</dc:creator>
  <cp:lastModifiedBy>shalinivuyyala@outlook.com</cp:lastModifiedBy>
  <cp:revision>1</cp:revision>
  <dcterms:created xsi:type="dcterms:W3CDTF">2026-07-23T15:38:29Z</dcterms:created>
  <dcterms:modified xsi:type="dcterms:W3CDTF">2026-07-24T03:00:11Z</dcterms:modified>
</cp:coreProperties>
</file>